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Problem Statement ID:</a:t>
            </a:r>
            <a:r>
              <a:rPr sz="1450" b="0">
                <a:solidFill>
                  <a:srgbClr val="1E293B"/>
                </a:solidFill>
                <a:latin typeface="Segoe UI"/>
              </a:rPr>
              <a:t> SIH26124</a:t>
            </a:r>
            <a:endParaRPr lang="en-US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Problem Statement Title:</a:t>
            </a:r>
            <a:r>
              <a:rPr sz="1450" b="0">
                <a:solidFill>
                  <a:srgbClr val="1E293B"/>
                </a:solidFill>
                <a:latin typeface="Segoe UI"/>
              </a:rPr>
              <a:t> AI-Powered Road Quality Assessment &amp; Urban Safety Monitoring via Public Transport Fleet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Theme:</a:t>
            </a:r>
            <a:r>
              <a:rPr sz="1450" b="0">
                <a:solidFill>
                  <a:srgbClr val="1E293B"/>
                </a:solidFill>
                <a:latin typeface="Segoe UI"/>
              </a:rPr>
              <a:t> Smart Automation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PS Category:</a:t>
            </a:r>
            <a:r>
              <a:rPr sz="1450" b="0">
                <a:solidFill>
                  <a:srgbClr val="1E293B"/>
                </a:solidFill>
                <a:latin typeface="Segoe UI"/>
              </a:rPr>
              <a:t> Software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Team ID:</a:t>
            </a:r>
            <a:r>
              <a:rPr sz="1450" b="0">
                <a:solidFill>
                  <a:srgbClr val="1E293B"/>
                </a:solidFill>
                <a:latin typeface="Segoe UI"/>
              </a:rPr>
              <a:t> [Your Portal Team ID]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Team Name (Registered on portal):</a:t>
            </a:r>
            <a:r>
              <a:rPr sz="1450" b="0">
                <a:solidFill>
                  <a:srgbClr val="1E293B"/>
                </a:solidFill>
                <a:latin typeface="Segoe UI"/>
              </a:rPr>
              <a:t> ROAD-SHIELD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400" b="1">
                <a:solidFill>
                  <a:srgbClr val="0F254B"/>
                </a:solidFill>
                <a:latin typeface="Segoe UI"/>
              </a:defRPr>
            </a:pPr>
            <a:r>
              <a:t>IDEA TITLE: ROAD-SHIELD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200"/>
              </a:spcAft>
              <a:buFont typeface="Wingdings" panose="05000000000000000000" pitchFamily="2" charset="2"/>
              <a:buChar char="v"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Core Concept: </a:t>
            </a:r>
            <a:r>
              <a:rPr sz="1000" b="0">
                <a:solidFill>
                  <a:srgbClr val="1E293B"/>
                </a:solidFill>
                <a:latin typeface="Segoe UI"/>
              </a:rPr>
              <a:t>Transforms public transit buses (BMTC/DTC) into autonomous 24×7 road quality and urban safety inspectors.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Edge Architecture: </a:t>
            </a:r>
            <a:r>
              <a:rPr sz="1000" b="0">
                <a:solidFill>
                  <a:srgbClr val="1E293B"/>
                </a:solidFill>
                <a:latin typeface="Segoe UI"/>
              </a:rPr>
              <a:t>Low-cost plug-and-play retrofit (Raspberry Pi 4 + Dashcam + MPU-6050 100Hz IMU) at ~₹15,000/bus.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Real-Time Operation: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11-stage pipeline analyzes a road photograph in ~2 s on CPU and issues sealed, geo-tagged work orders.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Detailed explanation of the proposed solution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Dual-Sensor Fusion: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Synchronizes 1080p optical defect detection (cracks/potholes) with 100Hz 3-axis accelerometer shock dynamics.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ASTM D6433 PCI Index: </a:t>
            </a:r>
            <a:r>
              <a:rPr sz="1000" b="0">
                <a:solidFill>
                  <a:srgbClr val="1E293B"/>
                </a:solidFill>
                <a:latin typeface="Segoe UI"/>
              </a:rPr>
              <a:t>Standard 0–100 Pavement Condition Index by the ASTM D6433 deduct-value procedure; field validation planned in the pilot.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MoRTH Civil Work-Orders: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Estimates cavity volume, hot-mix asphalt tonnage (ρ = 2.40 T/m³), and repair cost (₹) per MoRTH Section 500.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Monsoon Deterioration Model: </a:t>
            </a:r>
            <a:r>
              <a:rPr sz="1000" b="0">
                <a:solidFill>
                  <a:srgbClr val="1E293B"/>
                </a:solidFill>
                <a:latin typeface="Segoe UI"/>
              </a:rPr>
              <a:t>180-day forecasting model predicts moisture-driven sub-base degradation for proactive pre-monsoon maintenance.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How it addresses the problem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Zero Dedicated Trips: </a:t>
            </a:r>
            <a:r>
              <a:rPr sz="1000" b="0">
                <a:solidFill>
                  <a:srgbClr val="1E293B"/>
                </a:solidFill>
                <a:latin typeface="Segoe UI"/>
              </a:rPr>
              <a:t>Utilizes regular passenger routes—replaces specialized survey vans (₹30–60 Lakhs each) at 98% lower cost.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Multi-Bus Deduplication: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Haversine clustering (≤8m radius) collapses repeated bus reports into a single verified defect ledger.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Instant Cycle Time: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Reduces road defect detection-to-work-order lifecycle from 30+ days down to under 1 second.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Innovation and uniqueness of the solution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CPU-Only Edge AI: </a:t>
            </a:r>
            <a:r>
              <a:rPr sz="1000" b="0">
                <a:solidFill>
                  <a:srgbClr val="1E293B"/>
                </a:solidFill>
                <a:latin typeface="Segoe UI"/>
              </a:rPr>
              <a:t>Fine-tuned CNNs on ONNX Runtime run on standard CPUs—classifier ~5 ms per frame, no GPU or cloud inference required.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Bayesian Cross-Verification: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Camera and 100 Hz accelerometer evidence are combined in one Bayesian gate; false-positive reduction to be measured on bus data in the pilot.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SHA-256 Cryptographic Ledger: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Tamper-proof, immutable work-order tokens prevent ghost contractor tenders and municipal corruption.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DPDP Act 2023 Privacy: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On-edge blurring of pedestrian faces and vehicle license plates ensures strict statutory data privacy compliance.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indent="-342900" algn="just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Technologies to be used (e.g. programming languages, frameworks, hardware)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AI &amp; Machine Learning: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Python, ONNX Runtime on CPU (no GPU, no PyTorch/TF at inference); CNNs fine-tuned on a Colab T4 GPU.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Edge Hardware Stack: </a:t>
            </a:r>
            <a:r>
              <a:rPr sz="1000" b="0">
                <a:solidFill>
                  <a:srgbClr val="1E293B"/>
                </a:solidFill>
                <a:latin typeface="Segoe UI"/>
              </a:rPr>
              <a:t>Raspberry Pi 4 Model B (4GB, ₹3,500), 1080p wide-angle Dashcam, MPU-6050 6-DOF IMU (₹300), Neo-6M GPS.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Standards &amp; Specifications: </a:t>
            </a:r>
            <a:r>
              <a:rPr sz="1000" b="0">
                <a:solidFill>
                  <a:srgbClr val="1E293B"/>
                </a:solidFill>
                <a:latin typeface="Segoe UI"/>
              </a:rPr>
              <a:t>ASTM D6433 Standard Practice for PCI Surveys, MoRTH Section 500 (Asphalt Pavements) &amp; Section 3000.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Cloud &amp; Command Backend: </a:t>
            </a:r>
            <a:r>
              <a:rPr sz="1000" b="0">
                <a:solidFill>
                  <a:srgbClr val="1E293B"/>
                </a:solidFill>
                <a:latin typeface="Segoe UI"/>
              </a:rPr>
              <a:t>Python asynchronous HTTP REST server (11 active endpoints), Leaflet.js interactive dark-mode GIS map.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Security &amp; Integrity: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SHA-256 HMAC cryptographic sealing, local encrypted SQLite store-and-forward queue.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Methodology and process for implementation (Flow Charts/Images/ working prototype)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11-Stage End-to-End Pipeline: </a:t>
            </a:r>
            <a:r>
              <a:rPr sz="1000" b="0">
                <a:solidFill>
                  <a:srgbClr val="1E293B"/>
                </a:solidFill>
                <a:latin typeface="Segoe UI"/>
              </a:rPr>
              <a:t>[1] Optical Decode → [2] Texture Gatekeeper (Std ≥ 6.5) → [3] Cavity BBox Extraction → [4] Road-Condition CNN, 7 classes (94.9% held-out acc) → [5] IPM Homography (Metric Area) → [6] 100Hz IMU Shock Analysis → [7] Bayesian Sensor Fusion → [8] ASTM D6433 PCI (deduct-value procedure) → [9] 180-Day Deterioration Forecast → [10] MoRTH Civil BOQ Generator → [11] SHA-256 Cryptographic Dispatch.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Working Prototype Verification (356 Tests Passed): </a:t>
            </a:r>
            <a:r>
              <a:rPr sz="1000" b="0">
                <a:solidFill>
                  <a:srgbClr val="1E293B"/>
                </a:solidFill>
                <a:latin typeface="Segoe UI"/>
              </a:rPr>
              <a:t>Full end-to-end integration verified on 10 core subsystems (models, pipeline, REST API, fusion, dedup, ledger).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Real-World Dataset Validation: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Benchmarked on 65+ cryptographically unique real-world images (RDD2022 India, Kaggle Pothole-600, CRACK500).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Performance Metrics: </a:t>
            </a:r>
            <a:r>
              <a:rPr sz="1000" b="0">
                <a:solidFill>
                  <a:srgbClr val="1E293B"/>
                </a:solidFill>
                <a:latin typeface="Segoe UI"/>
              </a:rPr>
              <a:t>Classifier ~5 ms/frame, full photo analysis ~2 s on CPU; 94.9% accuracy (92.3% on Indian roads); IMU classifier 86.6%.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Verified Open-Source Implementation: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Public repository: github.com/udbhav968-creator/SIH_PROJECT (356 automated tests pass).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Technical Feasibility (Proven): </a:t>
            </a:r>
            <a:r>
              <a:rPr sz="1000" b="0">
                <a:solidFill>
                  <a:srgbClr val="1E293B"/>
                </a:solidFill>
                <a:latin typeface="Segoe UI"/>
              </a:rPr>
              <a:t>356 automated tests passing; every model runs on ONNX Runtime on an ordinary CPU without a GPU.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Financial Viability: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₹15,000 retrofit per bus vs ₹30–60 Lakhs for specialized road survey vehicles (98% capital expenditure reduction).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Operational Feasibility: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Passive, autonomous operation mounted on existing transit fleets (BMTC, DTC, BEST)—zero driver burden.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Offline Resilience: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Edge units store encrypted audit packages locally during cellular dead zones, syncing automatically at depot Wi-Fi/4G.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Potential challenges and risks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Road Vibration &amp; Motion Blur: </a:t>
            </a:r>
            <a:r>
              <a:rPr sz="1000" b="0">
                <a:solidFill>
                  <a:srgbClr val="1E293B"/>
                </a:solidFill>
                <a:latin typeface="Segoe UI"/>
              </a:rPr>
              <a:t>Severe bus vibration and speed bumps causing camera frame degradation.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Adverse Lighting &amp; Weather: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Low-light night conditions, torrential monsoon rainfall, and road water reflections.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Fleet Data 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Multiple buses traversing the same route reporting the same defect repeatedly.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Municipal Contractor Friction: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Reluctance from contractors towards automated, fraud-proof digital work orders.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Strategies for overcoming these challenges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Intelligent Gating: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Optical texture gatekeeper (Std ≥ 6.5) and IMU acceleration filter instantly drop blurry/distorted frames.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Multi-Modal Redundancy: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During heavy rain or darkness, IMU dynamic shock classification takes primary precedence over optical vision.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Haversine Spatial Clustering: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Cloud/backend deduplication engine merges detections within ≤8m radius into a single verified incident ledger.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MoRTH &amp; CPWD Standard Compliance: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Auto-generated BOQs strictly adhere to official government rate schedules (ρ = 2.40 T/m³).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Potential impact on the target audience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Daily Indian Commuters (140+ Crore): </a:t>
            </a:r>
            <a:r>
              <a:rPr sz="1000" b="0">
                <a:solidFill>
                  <a:srgbClr val="1E293B"/>
                </a:solidFill>
                <a:latin typeface="Segoe UI"/>
              </a:rPr>
              <a:t>Directly targets saving lives by mitigating India's 19,456+ annual road surface and pothole accident fatalities.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Municipal Bodies (ULBs) &amp; PWDs: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Reduces defect identification-to-repair turnaround from 30+ days down to under 1 second with instant BOQ.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State Road Transport Corporations: </a:t>
            </a:r>
            <a:r>
              <a:rPr sz="1000" b="0">
                <a:solidFill>
                  <a:srgbClr val="1E293B"/>
                </a:solidFill>
                <a:latin typeface="Segoe UI"/>
              </a:rPr>
              <a:t>Cuts public bus fleet maintenance and suspension repair expenditure by 25%.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Urban Traffic Planners: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Provides real-time dynamic heatmaps of road decay and Urban Congestion Index (PCU) across the entire city grid.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Benefits of the solution (social, economic, environmental, etc.)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Social Benefits: </a:t>
            </a:r>
            <a:r>
              <a:rPr sz="1000" b="0">
                <a:solidFill>
                  <a:srgbClr val="1E293B"/>
                </a:solidFill>
                <a:latin typeface="Segoe UI"/>
              </a:rPr>
              <a:t>Drastic reduction in severe two-wheeler spinal trauma and fatal accidents; automated alerts for missing zebra crossings.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Economic Benefits (₹30,000+ Saved/Defect): </a:t>
            </a:r>
            <a:r>
              <a:rPr sz="1000" b="0">
                <a:solidFill>
                  <a:srgbClr val="1E293B"/>
                </a:solidFill>
                <a:latin typeface="Segoe UI"/>
              </a:rPr>
              <a:t>Preventive micro-crack sealing costs ₹150/m² vs ₹3,500/m² for deep crater reconstruction; stops ₹400+ Cr tender fraud.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Environmental Benefits: </a:t>
            </a:r>
            <a:r>
              <a:rPr sz="1000" b="0">
                <a:solidFill>
                  <a:srgbClr val="1E293B"/>
                </a:solidFill>
                <a:latin typeface="Segoe UI"/>
              </a:rPr>
              <a:t>Smooth road surfaces reduce stop-and-go vehicle idling, cutting vehicular fuel waste by up to 8% and lowering emissions.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UN Sustainable Development Goals: </a:t>
            </a:r>
            <a:r>
              <a:rPr sz="1000" b="0">
                <a:solidFill>
                  <a:srgbClr val="1E293B"/>
                </a:solidFill>
                <a:latin typeface="Segoe UI"/>
              </a:rPr>
              <a:t>Aligned with SDG 3 (Good Health &amp; Well-being), SDG 9 (Resilient Infrastructure), SDG 11 (Sustainable Cities), SDG 16 (Transparency).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[1] RDD2022 Benchmark: </a:t>
            </a:r>
            <a:r>
              <a:rPr sz="950" b="0">
                <a:solidFill>
                  <a:srgbClr val="1E293B"/>
                </a:solidFill>
                <a:latin typeface="Segoe UI"/>
              </a:rPr>
              <a:t>Wang et al. (2022). 'Multi-Country Road Damage Detection Challenge.' IEEE CRUW / arXiv:2209.08538. Foundation for D00/D10/D20/D40 taxonomy.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[2] Deep Learning for Road Distress: </a:t>
            </a:r>
            <a:r>
              <a:rPr sz="950" b="0">
                <a:solidFill>
                  <a:srgbClr val="1E293B"/>
                </a:solidFill>
                <a:latin typeface="Segoe UI"/>
              </a:rPr>
              <a:t>Maeda et al. (2018). 'Road Damage Detection Using Deep Neural Networks.' Computer-Aided Civil &amp; Infrastructure Engg, 33(12).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[3] Pavement Condition Standard: </a:t>
            </a:r>
            <a:r>
              <a:rPr sz="950" b="0">
                <a:solidFill>
                  <a:srgbClr val="1E293B"/>
                </a:solidFill>
                <a:latin typeface="Segoe UI"/>
              </a:rPr>
              <a:t>ASTM D6433-20. 'Standard Practice for Roads and Parking Lots Pavement Condition Index (PCI) Surveys.' ASTM International.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[4] Civil Engineering Specifications: </a:t>
            </a:r>
            <a:r>
              <a:rPr sz="950" b="0">
                <a:solidFill>
                  <a:srgbClr val="1E293B"/>
                </a:solidFill>
                <a:latin typeface="Segoe UI"/>
              </a:rPr>
              <a:t>MoRTH (2020). 'Specifications for Road and Bridge Works (7th Revision).' Ministry of Road Transport &amp; Highways, Govt. of India.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[5] Data Privacy &amp; Protection: </a:t>
            </a:r>
            <a:r>
              <a:rPr sz="950" b="0">
                <a:solidFill>
                  <a:srgbClr val="1E293B"/>
                </a:solidFill>
                <a:latin typeface="Segoe UI"/>
              </a:rPr>
              <a:t>Digital Personal Data Protection (DPDP) Act 2023. Gazette of India, Ministry of Electronics &amp; Information Technology.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[6] CRACK500 Benchmark: </a:t>
            </a:r>
            <a:r>
              <a:rPr sz="950" b="0">
                <a:solidFill>
                  <a:srgbClr val="1E293B"/>
                </a:solidFill>
                <a:latin typeface="Segoe UI"/>
              </a:rPr>
              <a:t>Yang et al. (2019). 'Feature Pyramid and Hierarchical Boosting Network for Pavement Crack Detection.' IEEE Transactions on ITS.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[7] Kaggle Pothole-600 Dataset: </a:t>
            </a:r>
            <a:r>
              <a:rPr sz="950" b="0">
                <a:solidFill>
                  <a:srgbClr val="1E293B"/>
                </a:solidFill>
                <a:latin typeface="Segoe UI"/>
              </a:rPr>
              <a:t>Atulya Kumar (2020). Real-world Indian road cavity dataset benchmark.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[8] MoRTH Road Accident Statistics: </a:t>
            </a:r>
            <a:r>
              <a:rPr sz="950" b="0">
                <a:solidFill>
                  <a:srgbClr val="1E293B"/>
                </a:solidFill>
                <a:latin typeface="Segoe UI"/>
              </a:rPr>
              <a:t>Ministry of Road Transport &amp; Highways. 'Road Accidents in India 2023 Report.' Table 3.7 (Surface Condition Accidents).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[9] Transformer Attention Architecture: </a:t>
            </a:r>
            <a:r>
              <a:rPr sz="950" b="0">
                <a:solidFill>
                  <a:srgbClr val="1E293B"/>
                </a:solidFill>
                <a:latin typeface="Segoe UI"/>
              </a:rPr>
              <a:t>Vaswani et al. (2017). 'Attention Is All You Need.' Advances in Neural Information Processing Systems (NeurIPS).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[10] Live Open-Source Implementation: </a:t>
            </a:r>
            <a:r>
              <a:rPr sz="950" b="0">
                <a:solidFill>
                  <a:srgbClr val="1E293B"/>
                </a:solidFill>
                <a:latin typeface="Segoe UI"/>
              </a:rPr>
              <a:t>github.com/udbhav968-creator/SIH_PROJECT (356 automated tests pass).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