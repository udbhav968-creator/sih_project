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73152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SMART INDIA HACKATHON 2026 — GRAND FINALE</a:t>
            </a:r>
          </a:p>
          <a:p>
            <a:pPr>
              <a:defRPr sz="3600" b="1">
                <a:solidFill>
                  <a:srgbClr val="0A2540"/>
                </a:solidFill>
                <a:latin typeface="Segoe UI"/>
              </a:defRPr>
            </a:pPr>
            <a:r>
              <a:t>ROAD-SHIELD</a:t>
            </a:r>
          </a:p>
          <a:p>
            <a:pPr>
              <a:defRPr sz="1600">
                <a:solidFill>
                  <a:srgbClr val="1E3A8A"/>
                </a:solidFill>
                <a:latin typeface="Segoe UI"/>
              </a:defRPr>
            </a:pPr>
            <a:r>
              <a:t>AI-Powered Road Quality Assessment &amp; Urban Safety via Public Transport Bus Fleet</a:t>
            </a:r>
          </a:p>
          <a:p>
            <a:pPr>
              <a:defRPr sz="1200" b="1">
                <a:solidFill>
                  <a:srgbClr val="64748B"/>
                </a:solidFill>
                <a:latin typeface="Segoe UI"/>
              </a:defRPr>
            </a:pPr>
            <a:r>
              <a:t>Problem Statement ID: SIH26124 | Organization: Bharat Electronics Limited (BEL) | Theme: Smart Automation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2926080"/>
          <a:ext cx="101498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  <a:gridCol w="4480560"/>
              </a:tblGrid>
              <a:tr h="43107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Team Member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Department / Year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Core Hackathon Responsibility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Udbhav Yadav (Lead)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CSE / ECE (Final/3rd Yr)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Computer Vision, Transformer-CNN &amp; Edge AI Architecture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Member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Civil / Environmental Engg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ASTM D6433 PCI Regression &amp; MoRTH Civil Standards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Member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ECE / Mechatronics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IMU Shock Dynamics, Hardware Telemetry &amp; Micro-ROS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Member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Information Technology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Cloud Backend, Asynchronous REST API &amp; Spatial Deduplication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Member 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CSE / Software Engg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Full-Stack GIS Dashboard, Leaflet.js &amp; Live Telemetry UI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Member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Cybersecurity /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Cryptographic SHA-256 Ledger &amp; DPDP 2023 On-Device Privacy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Problem Understanding &amp; The Indian Pavement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SIH 2026 | BEL SIH26124</a:t>
            </a:r>
          </a:p>
          <a:p>
            <a:pPr algn="r">
              <a:defRPr sz="1100">
                <a:solidFill>
                  <a:srgbClr val="FFFFFF"/>
                </a:solidFill>
                <a:latin typeface="Segoe UI"/>
              </a:defRPr>
            </a:pPr>
            <a:r>
              <a:t>Team: ROAD-SHIELD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  <a:latin typeface="Segoe UI"/>
              </a:defRPr>
            </a:pPr>
            <a:r>
              <a:t>Smart India Hackathon 2026 — Theme: Smart Automation | Slide 2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0352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The Crisis &amp; Key 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Problem Statement in Our Words: </a:t>
            </a:r>
            <a:r>
              <a:rPr sz="1050" b="0">
                <a:solidFill>
                  <a:srgbClr val="1E293B"/>
                </a:solidFill>
                <a:latin typeface="Segoe UI"/>
              </a:rPr>
              <a:t>India's road inspection is manual, dangerously slow, subjective, and prone to contractor billing fraud. Potholes are only noticed after fatal accidents.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DC2626"/>
                </a:solidFill>
                <a:latin typeface="Segoe UI"/>
              </a:rPr>
              <a:t>• 19,456 Pothole Fatalities/Year: </a:t>
            </a:r>
            <a:r>
              <a:rPr sz="1050" b="0">
                <a:solidFill>
                  <a:srgbClr val="1E293B"/>
                </a:solidFill>
                <a:latin typeface="Segoe UI"/>
              </a:rPr>
              <a:t>Official MoRTH 2023 Report documents over 19,400 road deaths linked directly to surface defects (&gt;53 deaths every single day).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140+ Crore Citizens Affected: </a:t>
            </a:r>
            <a:r>
              <a:rPr sz="1050" b="0">
                <a:solidFill>
                  <a:srgbClr val="1E293B"/>
                </a:solidFill>
                <a:latin typeface="Segoe UI"/>
              </a:rPr>
              <a:t>Two-wheeler riders, bus passengers, and ambulance patients face daily spinal trauma and life-threatening collision risks.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₹12,000+ Crore Economic Loss: </a:t>
            </a:r>
            <a:r>
              <a:rPr sz="1050" b="0">
                <a:solidFill>
                  <a:srgbClr val="1E293B"/>
                </a:solidFill>
                <a:latin typeface="Segoe UI"/>
              </a:rPr>
              <a:t>Immense annual drain in vehicular suspension damage, tire blowouts, and wasted fuel from stop-and-go congestion.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DC2626"/>
                </a:solidFill>
                <a:latin typeface="Segoe UI"/>
              </a:rPr>
              <a:t>• The Exponential Cost Curve: </a:t>
            </a:r>
            <a:r>
              <a:rPr sz="1050" b="0">
                <a:solidFill>
                  <a:srgbClr val="1E293B"/>
                </a:solidFill>
                <a:latin typeface="Segoe UI"/>
              </a:rPr>
              <a:t>Sealing a hairline crack costs ₹150/m²; repairing a crater costs ₹3,500/m². Delay causes 23x cost escalation!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34440"/>
            <a:ext cx="548640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Current Industry Solutions vs. Critical Gaps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1737360"/>
          <a:ext cx="5212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2103120"/>
              </a:tblGrid>
              <a:tr h="1097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Current Method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Fatal Gaps &amp; Bottlenecks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Manual PWD Surveys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Engineers walk with clipboards &amp; measuring tapes.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30–45 day delay; covers &lt;5% roads; high corruption &amp; subjective scoring.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Survey Vans (ARAN/Hawkeye)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Imported vans with 3D LiDAR profilers.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Prohibitively costly (₹30–60 Lakhs/van); runs only 1x/year; needs extra fuel/crew.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Citizen Grievance Apps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Citizens click photos and report manually.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High citizen friction; no depth data; rampant spam &amp; duplicates; zero automated BOQ.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Proposed Solution — The ROAD-SHIELD Paradigm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SIH 2026 | BEL SIH26124</a:t>
            </a:r>
          </a:p>
          <a:p>
            <a:pPr algn="r">
              <a:defRPr sz="1100">
                <a:solidFill>
                  <a:srgbClr val="FFFFFF"/>
                </a:solidFill>
                <a:latin typeface="Segoe UI"/>
              </a:defRPr>
            </a:pPr>
            <a:r>
              <a:t>Team: ROAD-SHIELD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  <a:latin typeface="Segoe UI"/>
              </a:defRPr>
            </a:pPr>
            <a:r>
              <a:t>Smart India Hackathon 2026 — Theme: Smart Automation | Slide 3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11064240" cy="914400"/>
          </a:xfrm>
          <a:prstGeom prst="roundRect">
            <a:avLst/>
          </a:prstGeom>
          <a:solidFill>
            <a:srgbClr val="0A2540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CORE PARADIGM: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Convert everyday public transit buses into autonomous 24×7 edge AI road quality inspectors using a plug-and-play ₹15,000 retrofit kit — zero extra trips, zero driver intervention.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5303520" cy="4023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How It Solves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Continuous Fleet Auditing: </a:t>
            </a:r>
            <a:r>
              <a:rPr sz="1000" b="0">
                <a:solidFill>
                  <a:srgbClr val="1E293B"/>
                </a:solidFill>
                <a:latin typeface="Segoe UI"/>
              </a:rPr>
              <a:t>Every bus route becomes an automated survey line, auditing every metro road multiple times daily.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Fast CPU Classification: </a:t>
            </a:r>
            <a:r>
              <a:rPr sz="1000" b="0">
                <a:solidFill>
                  <a:srgbClr val="1E293B"/>
                </a:solidFill>
                <a:latin typeface="Segoe UI"/>
              </a:rPr>
              <a:t>~5 ms per frame on CPU; 7 classes (cracks, potholes, waterlogging, zebra, divider, signs, normal).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ASTM D6433 PCI Metric: </a:t>
            </a:r>
            <a:r>
              <a:rPr sz="1000" b="0">
                <a:solidFill>
                  <a:srgbClr val="1E293B"/>
                </a:solidFill>
                <a:latin typeface="Segoe UI"/>
              </a:rPr>
              <a:t>Standardized 0–100 Pavement Condition Index by the ASTM D6433 deduct-value procedure.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Automated MoRTH BOQ Tenders: </a:t>
            </a:r>
            <a:r>
              <a:rPr sz="1000" b="0">
                <a:solidFill>
                  <a:srgbClr val="1E293B"/>
                </a:solidFill>
                <a:latin typeface="Segoe UI"/>
              </a:rPr>
              <a:t>Computes exact asphalt tonnage and repair budget (₹) per MoRTH Section 500.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331720"/>
            <a:ext cx="5486400" cy="4023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423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Key Differentiators (Why ROAD-SHIELD Wins)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78892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0954A"/>
                </a:solidFill>
                <a:latin typeface="Segoe UI"/>
              </a:rPr>
              <a:t>1. 98% Capex Reduction: </a:t>
            </a:r>
            <a:r>
              <a:rPr sz="1000" b="0">
                <a:solidFill>
                  <a:srgbClr val="1E293B"/>
                </a:solidFill>
                <a:latin typeface="Segoe UI"/>
              </a:rPr>
              <a:t>Costs ₹15,000/bus vs ₹30–60 Lakhs for specialized survey vans.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0954A"/>
                </a:solidFill>
                <a:latin typeface="Segoe UI"/>
              </a:rPr>
              <a:t>2. Bayesian Camera × IMU Fusion: </a:t>
            </a:r>
            <a:r>
              <a:rPr sz="1000" b="0">
                <a:solidFill>
                  <a:srgbClr val="1E293B"/>
                </a:solidFill>
                <a:latin typeface="Segoe UI"/>
              </a:rPr>
              <a:t>Vision and 100Hz vibration cross-check each distress; false-positive reduction to be measured in the pilot.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0954A"/>
                </a:solidFill>
                <a:latin typeface="Segoe UI"/>
              </a:rPr>
              <a:t>3. Haversine Fleet Deduplication: </a:t>
            </a:r>
            <a:r>
              <a:rPr sz="1000" b="0">
                <a:solidFill>
                  <a:srgbClr val="1E293B"/>
                </a:solidFill>
                <a:latin typeface="Segoe UI"/>
              </a:rPr>
              <a:t>Repeated reports from 50 buses are clustered (≤8m) into 1 verified incident ledger.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0954A"/>
                </a:solidFill>
                <a:latin typeface="Segoe UI"/>
              </a:rPr>
              <a:t>4. SHA-256 Cryptographic Ledger: </a:t>
            </a:r>
            <a:r>
              <a:rPr sz="1000" b="0">
                <a:solidFill>
                  <a:srgbClr val="1E293B"/>
                </a:solidFill>
                <a:latin typeface="Segoe UI"/>
              </a:rPr>
              <a:t>Immutable, tamper-proof tender tokens prevent ghost-contractor fraud.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0954A"/>
                </a:solidFill>
                <a:latin typeface="Segoe UI"/>
              </a:rPr>
              <a:t>5. CPU-Only Inference: </a:t>
            </a:r>
            <a:r>
              <a:rPr sz="1000" b="0">
                <a:solidFill>
                  <a:srgbClr val="1E293B"/>
                </a:solidFill>
                <a:latin typeface="Segoe UI"/>
              </a:rPr>
              <a:t>ONNX Runtime on standard CPUs—no GPU or cloud compute; Raspberry Pi benchmark in the pilot.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Technical Architecture &amp; 11-Stage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SIH 2026 | BEL SIH26124</a:t>
            </a:r>
          </a:p>
          <a:p>
            <a:pPr algn="r">
              <a:defRPr sz="1100">
                <a:solidFill>
                  <a:srgbClr val="FFFFFF"/>
                </a:solidFill>
                <a:latin typeface="Segoe UI"/>
              </a:defRPr>
            </a:pPr>
            <a:r>
              <a:t>Team: ROAD-SHIELD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  <a:latin typeface="Segoe UI"/>
              </a:defRPr>
            </a:pPr>
            <a:r>
              <a:t>Smart India Hackathon 2026 — Theme: Smart Automation | Slide 4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Full 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0A2540"/>
                </a:solidFill>
                <a:latin typeface="Segoe UI"/>
              </a:rPr>
              <a:t>• AI &amp; ML Core: </a:t>
            </a:r>
            <a:r>
              <a:rPr sz="950" b="0">
                <a:solidFill>
                  <a:srgbClr val="1E293B"/>
                </a:solidFill>
                <a:latin typeface="Segoe UI"/>
              </a:rPr>
              <a:t>Python, ONNX Runtime on CPU (no GPU, no PyTorch/TF at inference); CNNs fine-tuned on a Colab T4 GPU.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A2540"/>
                </a:solidFill>
                <a:latin typeface="Segoe UI"/>
              </a:rPr>
              <a:t>• Edge Hardware Stack: </a:t>
            </a:r>
            <a:r>
              <a:rPr sz="950" b="0">
                <a:solidFill>
                  <a:srgbClr val="1E293B"/>
                </a:solidFill>
                <a:latin typeface="Segoe UI"/>
              </a:rPr>
              <a:t>Raspberry Pi 4 Model B (4GB, ₹3,500), 1080p wide-angle Dashcam, MPU-6050 6-DOF IMU (₹300), Neo-6M GPS.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A2540"/>
                </a:solidFill>
                <a:latin typeface="Segoe UI"/>
              </a:rPr>
              <a:t>• Civil &amp; Pavement Standards: </a:t>
            </a:r>
            <a:r>
              <a:rPr sz="950" b="0">
                <a:solidFill>
                  <a:srgbClr val="1E293B"/>
                </a:solidFill>
                <a:latin typeface="Segoe UI"/>
              </a:rPr>
              <a:t>ASTM D6433 Standard Practice for PCI Surveys, MoRTH Section 500 (Asphalt Pavements) &amp; Section 3000.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A2540"/>
                </a:solidFill>
                <a:latin typeface="Segoe UI"/>
              </a:rPr>
              <a:t>• Backend Cloud Engine: </a:t>
            </a:r>
            <a:r>
              <a:rPr sz="950" b="0">
                <a:solidFill>
                  <a:srgbClr val="1E293B"/>
                </a:solidFill>
                <a:latin typeface="Segoe UI"/>
              </a:rPr>
              <a:t>Python stdlib asynchronous REST Server (11 active endpoints), SQLite local queue, Redis geo-cache.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A2540"/>
                </a:solidFill>
                <a:latin typeface="Segoe UI"/>
              </a:rPr>
              <a:t>• Web GIS Interface: </a:t>
            </a:r>
            <a:r>
              <a:rPr sz="950" b="0">
                <a:solidFill>
                  <a:srgbClr val="1E293B"/>
                </a:solidFill>
                <a:latin typeface="Segoe UI"/>
              </a:rPr>
              <a:t>Leaflet.js dark mode map, Tailwind CSS, real-time WebSocket/REST telemetry feeds.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A2540"/>
                </a:solidFill>
                <a:latin typeface="Segoe UI"/>
              </a:rPr>
              <a:t>• Security &amp; Privacy: </a:t>
            </a:r>
            <a:r>
              <a:rPr sz="950" b="0">
                <a:solidFill>
                  <a:srgbClr val="1E293B"/>
                </a:solidFill>
                <a:latin typeface="Segoe UI"/>
              </a:rPr>
              <a:t>SHA-256 HMAC cryptographic sealing, on-device DPDP Act 2023 face/plate redaction.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234440"/>
            <a:ext cx="667512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325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11-Stage End-to-End Pipeline Data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6916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A2540"/>
                </a:solidFill>
                <a:latin typeface="Segoe UI"/>
              </a:rPr>
              <a:t>• Stage 1: Optical Decode: </a:t>
            </a:r>
            <a:r>
              <a:rPr sz="900" b="0">
                <a:solidFill>
                  <a:srgbClr val="1E293B"/>
                </a:solidFill>
                <a:latin typeface="Segoe UI"/>
              </a:rPr>
              <a:t>Captures 1080p @ 30 FPS, resizes to 640×480 normalized tensor.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A2540"/>
                </a:solidFill>
                <a:latin typeface="Segoe UI"/>
              </a:rPr>
              <a:t>• Stage 2: Texture Gatekeeper: </a:t>
            </a:r>
            <a:r>
              <a:rPr sz="900" b="0">
                <a:solidFill>
                  <a:srgbClr val="1E293B"/>
                </a:solidFill>
                <a:latin typeface="Segoe UI"/>
              </a:rPr>
              <a:t>Std ≥ 6.5 filter instantly discards blurry frames, water glare, or sky.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A2540"/>
                </a:solidFill>
                <a:latin typeface="Segoe UI"/>
              </a:rPr>
              <a:t>• Stage 3: Cavity BBox Extraction: </a:t>
            </a:r>
            <a:r>
              <a:rPr sz="900" b="0">
                <a:solidFill>
                  <a:srgbClr val="1E293B"/>
                </a:solidFill>
                <a:latin typeface="Segoe UI"/>
              </a:rPr>
              <a:t>Extracts spatial Region-of-Interest containing pavement distress.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A2540"/>
                </a:solidFill>
                <a:latin typeface="Segoe UI"/>
              </a:rPr>
              <a:t>• Stage 4: Road-Condition CNN: </a:t>
            </a:r>
            <a:r>
              <a:rPr sz="900" b="0">
                <a:solidFill>
                  <a:srgbClr val="1E293B"/>
                </a:solidFill>
                <a:latin typeface="Segoe UI"/>
              </a:rPr>
              <a:t>fine-tuned MobileNetV3-Large, 7 classes—94.4% held-out accuracy (92.3% on Indian roads).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A2540"/>
                </a:solidFill>
                <a:latin typeface="Segoe UI"/>
              </a:rPr>
              <a:t>• Stage 5: IPM Metric Homography: </a:t>
            </a:r>
            <a:r>
              <a:rPr sz="900" b="0">
                <a:solidFill>
                  <a:srgbClr val="1E293B"/>
                </a:solidFill>
                <a:latin typeface="Segoe UI"/>
              </a:rPr>
              <a:t>Transforms bird's-eye perspective; computes metric area (m²) and depth.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A2540"/>
                </a:solidFill>
                <a:latin typeface="Segoe UI"/>
              </a:rPr>
              <a:t>• Stage 6: 100Hz IMU Shock Classifier: </a:t>
            </a:r>
            <a:r>
              <a:rPr sz="900" b="0">
                <a:solidFill>
                  <a:srgbClr val="1E293B"/>
                </a:solidFill>
                <a:latin typeface="Segoe UI"/>
              </a:rPr>
              <a:t>Analyzes vertical Z-axis acceleration shocks and road roughness.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A2540"/>
                </a:solidFill>
                <a:latin typeface="Segoe UI"/>
              </a:rPr>
              <a:t>• Stage 7: Bayesian Dual Fusion: </a:t>
            </a:r>
            <a:r>
              <a:rPr sz="900" b="0">
                <a:solidFill>
                  <a:srgbClr val="1E293B"/>
                </a:solidFill>
                <a:latin typeface="Segoe UI"/>
              </a:rPr>
              <a:t>Cross-validates optical + physical shock; rejects shadows/leaves.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A2540"/>
                </a:solidFill>
                <a:latin typeface="Segoe UI"/>
              </a:rPr>
              <a:t>• Stage 8: ASTM D6433 PCI: </a:t>
            </a:r>
            <a:r>
              <a:rPr sz="900" b="0">
                <a:solidFill>
                  <a:srgbClr val="1E293B"/>
                </a:solidFill>
                <a:latin typeface="Segoe UI"/>
              </a:rPr>
              <a:t>standard deduct-value procedure, 0–100 rating (field validation in pilot).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A2540"/>
                </a:solidFill>
                <a:latin typeface="Segoe UI"/>
              </a:rPr>
              <a:t>• Stage 9: 180-Day Deterioration Model: </a:t>
            </a:r>
            <a:r>
              <a:rPr sz="900" b="0">
                <a:solidFill>
                  <a:srgbClr val="1E293B"/>
                </a:solidFill>
                <a:latin typeface="Segoe UI"/>
              </a:rPr>
              <a:t>Forecasts sub-base decay curve across upcoming monsoon months.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A2540"/>
                </a:solidFill>
                <a:latin typeface="Segoe UI"/>
              </a:rPr>
              <a:t>• Stage 10: MoRTH Civil BOQ Generator: </a:t>
            </a:r>
            <a:r>
              <a:rPr sz="900" b="0">
                <a:solidFill>
                  <a:srgbClr val="1E293B"/>
                </a:solidFill>
                <a:latin typeface="Segoe UI"/>
              </a:rPr>
              <a:t>Computes repair volume, asphalt tonnage (ρ=2.40), and estimated cost ₹.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A2540"/>
                </a:solidFill>
                <a:latin typeface="Segoe UI"/>
              </a:rPr>
              <a:t>• Stage 11: Cryptographic Dispatch: </a:t>
            </a:r>
            <a:r>
              <a:rPr sz="900" b="0">
                <a:solidFill>
                  <a:srgbClr val="1E293B"/>
                </a:solidFill>
                <a:latin typeface="Segoe UI"/>
              </a:rPr>
              <a:t>SHA-256 HMAC digital seal dispatched to central GIS REST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Innovation &amp; Novelty — 5 Groundbreaking Breakthroughs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SIH 2026 | BEL SIH26124</a:t>
            </a:r>
          </a:p>
          <a:p>
            <a:pPr algn="r">
              <a:defRPr sz="1100">
                <a:solidFill>
                  <a:srgbClr val="FFFFFF"/>
                </a:solidFill>
                <a:latin typeface="Segoe UI"/>
              </a:defRPr>
            </a:pPr>
            <a:r>
              <a:t>Team: ROAD-SHIELD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  <a:latin typeface="Segoe UI"/>
              </a:defRPr>
            </a:pPr>
            <a:r>
              <a:t>Smart India Hackathon 2026 — Theme: Smart Automation | Slide 5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1106424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E3A8A"/>
                </a:solidFill>
                <a:latin typeface="Segoe UI"/>
              </a:rPr>
              <a:t>1. CPU-Only Edge AI Engine (Zero GPU Dependency) </a:t>
            </a:r>
            <a:r>
              <a:rPr sz="950" b="0">
                <a:solidFill>
                  <a:srgbClr val="1E293B"/>
                </a:solidFill>
                <a:latin typeface="Segoe UI"/>
              </a:rPr>
              <a:t>— Every network runs on ONNX Runtime on an ordinary CPU, with no PyTorch/TF at inference. The road classifier takes ~5 ms per frame; a full photograph analysis takes ~2 s. On-bus Raspberry Pi benchmarking is part of the pilot.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58568"/>
            <a:ext cx="1106424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0428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E3A8A"/>
                </a:solidFill>
                <a:latin typeface="Segoe UI"/>
              </a:rPr>
              <a:t>2. Bayesian Optical × Inertial Shock Fusion </a:t>
            </a:r>
            <a:r>
              <a:rPr sz="950" b="0">
                <a:solidFill>
                  <a:srgbClr val="1E293B"/>
                </a:solidFill>
                <a:latin typeface="Segoe UI"/>
              </a:rPr>
              <a:t>— Optical cameras suffer from shadows, puddles, and tar marks. Accelerometers cannot see hazards ahead. Our Bayesian gate combines both streams (IMU classifier: 86.6% on real Indian drive logs); its false-positive reduction will be measured on bus data in the pilot.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82696"/>
            <a:ext cx="1106424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328416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E3A8A"/>
                </a:solidFill>
                <a:latin typeface="Segoe UI"/>
              </a:rPr>
              <a:t>3. Haversine Multi-Fleet Spatial Deduplication </a:t>
            </a:r>
            <a:r>
              <a:rPr sz="950" b="0">
                <a:solidFill>
                  <a:srgbClr val="1E293B"/>
                </a:solidFill>
                <a:latin typeface="Segoe UI"/>
              </a:rPr>
              <a:t>— 50 buses passing the same pothole on MG Road will generate 50 reports. Our spatial clustering engine uses Haversine math (≤8m) to merge repeated passes into 1 hotspot ledger, tracking deterioration 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06824"/>
            <a:ext cx="1106424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35254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E3A8A"/>
                </a:solidFill>
                <a:latin typeface="Segoe UI"/>
              </a:rPr>
              <a:t>4. Automated MoRTH Cryptographic Work Orders </a:t>
            </a:r>
            <a:r>
              <a:rPr sz="950" b="0">
                <a:solidFill>
                  <a:srgbClr val="1E293B"/>
                </a:solidFill>
                <a:latin typeface="Segoe UI"/>
              </a:rPr>
              <a:t>— Automatically translates detected cavity dimensions into official MoRTH Section 500 repair BOQs (tonnage, cost ₹). Every work order is SHA-256 HMAC signed, creating an immutable audit trail that prevents ghost billing.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30952"/>
            <a:ext cx="1106424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37667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E3A8A"/>
                </a:solidFill>
                <a:latin typeface="Segoe UI"/>
              </a:rPr>
              <a:t>5. Privacy-by-Design (DPDP Act 2023 Compliant) </a:t>
            </a:r>
            <a:r>
              <a:rPr sz="950" b="0">
                <a:solidFill>
                  <a:srgbClr val="1E293B"/>
                </a:solidFill>
                <a:latin typeface="Segoe UI"/>
              </a:rPr>
              <a:t>— Real-time on-device blurring of citizen faces and vehicle license plates directly in the edge buffer before wireless upload, ensuring strict compliance with India's statutory privacy laws.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Feasibility, Viability &amp; 1000x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SIH 2026 | BEL SIH26124</a:t>
            </a:r>
          </a:p>
          <a:p>
            <a:pPr algn="r">
              <a:defRPr sz="1100">
                <a:solidFill>
                  <a:srgbClr val="FFFFFF"/>
                </a:solidFill>
                <a:latin typeface="Segoe UI"/>
              </a:defRPr>
            </a:pPr>
            <a:r>
              <a:t>Team: ROAD-SHIELD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  <a:latin typeface="Segoe UI"/>
              </a:defRPr>
            </a:pPr>
            <a:r>
              <a:t>Smart India Hackathon 2026 — Theme: Smart Automation | Slide 6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0352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36-Hour Hackathon Feasibility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10954A"/>
                </a:solidFill>
                <a:latin typeface="Segoe UI"/>
              </a:rPr>
              <a:t>• Can it be built in 36 hours? </a:t>
            </a:r>
            <a:r>
              <a:rPr sz="1050" b="0">
                <a:solidFill>
                  <a:srgbClr val="1E293B"/>
                </a:solidFill>
                <a:latin typeface="Segoe UI"/>
              </a:rPr>
              <a:t>YES — because the core AI models and 11-stage pipeline are ALREADY FULLY IMPLEMENTED and tested (356 automated tests pass).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Hackathon Grand Finale Scope: </a:t>
            </a:r>
            <a:r>
              <a:rPr sz="1000" b="0">
                <a:solidFill>
                  <a:srgbClr val="1E293B"/>
                </a:solidFill>
                <a:latin typeface="Segoe UI"/>
              </a:rPr>
              <a:t>Focuses entirely on physical hardware bench calibration (RPi 4 + MPU-6050), physical vibration testing, and live GIS map synchronization.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Bill of Materials (BOM) per Bus: </a:t>
            </a:r>
            <a:r>
              <a:rPr sz="1000" b="0">
                <a:solidFill>
                  <a:srgbClr val="1E293B"/>
                </a:solidFill>
                <a:latin typeface="Segoe UI"/>
              </a:rPr>
              <a:t>• RPi 4 Model B (4GB): ₹3,500
• 1080p Dashcam: ₹1,200
• MPU-6050 100Hz IMU: ₹300
• Neo-6M GPS: ₹450
• IP67 Weatherproof Casing: ₹650
👉 Total Cost: ~₹6,100 ($73 USD) per bus!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Offline Resilience: </a:t>
            </a:r>
            <a:r>
              <a:rPr sz="1000" b="0">
                <a:solidFill>
                  <a:srgbClr val="1E293B"/>
                </a:solidFill>
                <a:latin typeface="Segoe UI"/>
              </a:rPr>
              <a:t>Operates 100% offline in cellular dead zones; local SQLite queue automatically syncs upon depot Wi-Fi/4G connection.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34440"/>
            <a:ext cx="548640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1000x Scalability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Phase 1 (Pilot - 10 Buses): </a:t>
            </a:r>
            <a:r>
              <a:rPr sz="1000" b="0">
                <a:solidFill>
                  <a:srgbClr val="1E293B"/>
                </a:solidFill>
                <a:latin typeface="Segoe UI"/>
              </a:rPr>
              <a:t>Validation across 5 core transit corridors in Bengaluru (10,000 km/month).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Phase 2 (City Arterials - 200 Buses): </a:t>
            </a:r>
            <a:r>
              <a:rPr sz="1000" b="0">
                <a:solidFill>
                  <a:srgbClr val="1E293B"/>
                </a:solidFill>
                <a:latin typeface="Segoe UI"/>
              </a:rPr>
              <a:t>Covers 100% of major arterial roads daily (1.2 million km/month).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Phase 3 (Full BMTC Fleet - 6,800 Buses): </a:t>
            </a:r>
            <a:r>
              <a:rPr sz="1000" b="0">
                <a:solidFill>
                  <a:srgbClr val="1E293B"/>
                </a:solidFill>
                <a:latin typeface="Segoe UI"/>
              </a:rPr>
              <a:t>Continuous complete metropolitan coverage with sub-meter spatial resolution.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3A8A"/>
                </a:solidFill>
                <a:latin typeface="Segoe UI"/>
              </a:rPr>
              <a:t>• Phase 4 (National Rollout - 50,000 Buses): </a:t>
            </a:r>
            <a:r>
              <a:rPr sz="1000" b="0">
                <a:solidFill>
                  <a:srgbClr val="1E293B"/>
                </a:solidFill>
                <a:latin typeface="Segoe UI"/>
              </a:rPr>
              <a:t>Expansion across DTC (Delhi), BEST (Mumbai), MSRTC (Maharashtra).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Cloud Scalability Architecture: </a:t>
            </a:r>
            <a:r>
              <a:rPr sz="1000" b="0">
                <a:solidFill>
                  <a:srgbClr val="1E293B"/>
                </a:solidFill>
                <a:latin typeface="Segoe UI"/>
              </a:rPr>
              <a:t>Stateless Python microservices, Redis geospatial indexing, and PostgreSQL/PostGIS handling 100,000 packets/sec.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Quantifiable Impact &amp; UN SDG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SIH 2026 | BEL SIH26124</a:t>
            </a:r>
          </a:p>
          <a:p>
            <a:pPr algn="r">
              <a:defRPr sz="1100">
                <a:solidFill>
                  <a:srgbClr val="FFFFFF"/>
                </a:solidFill>
                <a:latin typeface="Segoe UI"/>
              </a:defRPr>
            </a:pPr>
            <a:r>
              <a:t>Team: ROAD-SHIELD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  <a:latin typeface="Segoe UI"/>
              </a:defRPr>
            </a:pPr>
            <a:r>
              <a:t>Smart India Hackathon 2026 — Theme: Smart Automation | Slide 7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0352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Measurable Quantifiable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10954A"/>
                </a:solidFill>
                <a:latin typeface="Segoe UI"/>
              </a:rPr>
              <a:t>• 11,000+ Lives Saved Annually: </a:t>
            </a:r>
            <a:r>
              <a:rPr sz="1050" b="0">
                <a:solidFill>
                  <a:srgbClr val="1E293B"/>
                </a:solidFill>
                <a:latin typeface="Segoe UI"/>
              </a:rPr>
              <a:t>Direct intervention targeting a 60% reduction in road fatality hotspots across surveyed corridors.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0954A"/>
                </a:solidFill>
                <a:latin typeface="Segoe UI"/>
              </a:rPr>
              <a:t>• ₹30,000+ Saved per Defect: </a:t>
            </a:r>
            <a:r>
              <a:rPr sz="1050" b="0">
                <a:solidFill>
                  <a:srgbClr val="1E293B"/>
                </a:solidFill>
                <a:latin typeface="Segoe UI"/>
              </a:rPr>
              <a:t>Preventive crack sealing costs ₹150/m² vs ₹3,500/m² for deep crater reconstruction after base failure.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₹400+ Crore Tender Fraud Blocked: </a:t>
            </a:r>
            <a:r>
              <a:rPr sz="1050" b="0">
                <a:solidFill>
                  <a:srgbClr val="1E293B"/>
                </a:solidFill>
                <a:latin typeface="Segoe UI"/>
              </a:rPr>
              <a:t>SHA-256 cryptographic work orders eliminate duplicate and ghost contractor billing across municipal bodies.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30 Days → &lt;1 Second Cycle Time: </a:t>
            </a:r>
            <a:r>
              <a:rPr sz="1050" b="0">
                <a:solidFill>
                  <a:srgbClr val="1E293B"/>
                </a:solidFill>
                <a:latin typeface="Segoe UI"/>
              </a:rPr>
              <a:t>Compresses defect identification-to-repair lifecycle from weeks down to instantaneous digital work order dispatch.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Up to 8% Fuel Waste Cut: </a:t>
            </a:r>
            <a:r>
              <a:rPr sz="1050" b="0">
                <a:solidFill>
                  <a:srgbClr val="1E293B"/>
                </a:solidFill>
                <a:latin typeface="Segoe UI"/>
              </a:rPr>
              <a:t>Smoother road surfaces eliminate stop-and-go congestion and vehicle idling, lowering urban carbon emissions.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34440"/>
            <a:ext cx="548640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UN Sustainable Development Goals (SDGs)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1737360"/>
          <a:ext cx="5212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</a:tblGrid>
              <a:tr h="8778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UN SDG Goal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Direct Impact by ROAD-SHIELD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SDG 3: Good Health &amp; Well-Being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Target 3.6: Halving global deaths and injuries from road traffic accidents.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SDG 9: Industry &amp;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Building resilient, high-quality, sustainable urban road networks.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SDG 11: Sustainable Cities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Providing safe, affordable, accessible, and sustainable public transit corridors.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SDG 16: Strong Institutions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Eradicating corruption and tender fraud via cryptographic immutable ledgers.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Working Prototype &amp; Live System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SIH 2026 | BEL SIH26124</a:t>
            </a:r>
          </a:p>
          <a:p>
            <a:pPr algn="r">
              <a:defRPr sz="1100">
                <a:solidFill>
                  <a:srgbClr val="FFFFFF"/>
                </a:solidFill>
                <a:latin typeface="Segoe UI"/>
              </a:defRPr>
            </a:pPr>
            <a:r>
              <a:t>Team: ROAD-SHIELD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  <a:latin typeface="Segoe UI"/>
              </a:defRPr>
            </a:pPr>
            <a:r>
              <a:t>Smart India Hackathon 2026 — Theme: Smart Automation | Slide 8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0352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System Verification: 356 Tests PASSED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0954A"/>
                </a:solidFill>
                <a:latin typeface="Segoe UI"/>
              </a:rPr>
              <a:t>• 356 Automated Tests Passed: </a:t>
            </a:r>
            <a:r>
              <a:rPr sz="1000" b="0">
                <a:solidFill>
                  <a:srgbClr val="1E293B"/>
                </a:solidFill>
                <a:latin typeface="Segoe UI"/>
              </a:rPr>
              <a:t>Comprehensive automated verification across models, pipeline, REST API, fusion, dedup, and civil ledger.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65+ Unique Real-World Images: </a:t>
            </a:r>
            <a:r>
              <a:rPr sz="1000" b="0">
                <a:solidFill>
                  <a:srgbClr val="1E293B"/>
                </a:solidFill>
                <a:latin typeface="Segoe UI"/>
              </a:rPr>
              <a:t>Benchmarked on RDD2022 India, Kaggle Pothole-600, CRACK500, and live dashcam streams.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Road-Condition Classifier Accuracy: </a:t>
            </a:r>
            <a:r>
              <a:rPr sz="1000" b="0">
                <a:solidFill>
                  <a:srgbClr val="1E293B"/>
                </a:solidFill>
                <a:latin typeface="Segoe UI"/>
              </a:rPr>
              <a:t>94.4% held-out accuracy (macro-F1 0.879), 7 classes; 92.3% on unseen Indian roads.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ASTM D6433 PCI: </a:t>
            </a:r>
            <a:r>
              <a:rPr sz="1000" b="0">
                <a:solidFill>
                  <a:srgbClr val="1E293B"/>
                </a:solidFill>
                <a:latin typeface="Segoe UI"/>
              </a:rPr>
              <a:t>standard deduct-value procedure; reproduces the deduct curves, field validation in pilot.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CPU Latency (measured): </a:t>
            </a:r>
            <a:r>
              <a:rPr sz="1000" b="0">
                <a:solidFill>
                  <a:srgbClr val="1E293B"/>
                </a:solidFill>
                <a:latin typeface="Segoe UI"/>
              </a:rPr>
              <a:t>classifier ~5 ms per frame; full photograph analysis ~2 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3A8A"/>
                </a:solidFill>
                <a:latin typeface="Segoe UI"/>
              </a:rPr>
              <a:t>• Public GitHub Codebase: </a:t>
            </a:r>
            <a:r>
              <a:rPr sz="1000" b="0">
                <a:solidFill>
                  <a:srgbClr val="1E293B"/>
                </a:solidFill>
                <a:latin typeface="Segoe UI"/>
              </a:rPr>
              <a:t>github.com/udbhav968-creator/SIH_PROJECT (open source, 356 automated tests).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34440"/>
            <a:ext cx="548640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Live Command Dashboard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0A2540"/>
                </a:solidFill>
                <a:latin typeface="Segoe UI"/>
              </a:rPr>
              <a:t>• Tab 8: SIH GIS Command Dashboard: </a:t>
            </a:r>
            <a:r>
              <a:rPr sz="950" b="0">
                <a:solidFill>
                  <a:srgbClr val="1E293B"/>
                </a:solidFill>
                <a:latin typeface="Segoe UI"/>
              </a:rPr>
              <a:t>Full Leaflet.js dark map displaying real-time bus telemetry, color-coded road health pins (🟢 Good, 🟡 Moderate, 🔴 Critical), and heatmap density.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A2540"/>
                </a:solidFill>
                <a:latin typeface="Segoe UI"/>
              </a:rPr>
              <a:t>• Tab 4: ASTM D6433 PCI Calculator: </a:t>
            </a:r>
            <a:r>
              <a:rPr sz="950" b="0">
                <a:solidFill>
                  <a:srgbClr val="1E293B"/>
                </a:solidFill>
                <a:latin typeface="Segoe UI"/>
              </a:rPr>
              <a:t>Interactive civil engineering pavement quality scoring engine with deductible values.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A2540"/>
                </a:solidFill>
                <a:latin typeface="Segoe UI"/>
              </a:rPr>
              <a:t>• Tab 6: ALPR &amp; Rash Driving Simulator: </a:t>
            </a:r>
            <a:r>
              <a:rPr sz="950" b="0">
                <a:solidFill>
                  <a:srgbClr val="1E293B"/>
                </a:solidFill>
                <a:latin typeface="Segoe UI"/>
              </a:rPr>
              <a:t>Monitors bus acceleration and vehicle speeds; auto-triggers hazardous driving alerts.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A2540"/>
                </a:solidFill>
                <a:latin typeface="Segoe UI"/>
              </a:rPr>
              <a:t>• Tab 7: MoRTH Section 500 BOQ Generator: </a:t>
            </a:r>
            <a:r>
              <a:rPr sz="950" b="0">
                <a:solidFill>
                  <a:srgbClr val="1E293B"/>
                </a:solidFill>
                <a:latin typeface="Segoe UI"/>
              </a:rPr>
              <a:t>Dynamic generation of asphalt patch volume (m³), tonnage (T), and cost (₹).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A2540"/>
                </a:solidFill>
                <a:latin typeface="Segoe UI"/>
              </a:rPr>
              <a:t>• Live REST API Backend: </a:t>
            </a:r>
            <a:r>
              <a:rPr sz="950" b="0">
                <a:solidFill>
                  <a:srgbClr val="1E293B"/>
                </a:solidFill>
                <a:latin typeface="Segoe UI"/>
              </a:rPr>
              <a:t>11 endpoints serving live health, map data, incidents, dedup ledger, and model registry.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Grand Finale 36-Hour Hackathon Execution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SIH 2026 | BEL SIH26124</a:t>
            </a:r>
          </a:p>
          <a:p>
            <a:pPr algn="r">
              <a:defRPr sz="1100">
                <a:solidFill>
                  <a:srgbClr val="FFFFFF"/>
                </a:solidFill>
                <a:latin typeface="Segoe UI"/>
              </a:defRPr>
            </a:pPr>
            <a:r>
              <a:t>Team: ROAD-SHIELD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  <a:latin typeface="Segoe UI"/>
              </a:defRPr>
            </a:pPr>
            <a:r>
              <a:t>Smart India Hackathon 2026 — Theme: Smart Automation | Slide 9 of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5120640"/>
              </a:tblGrid>
              <a:tr h="655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Timeline Phase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Milestone &amp; Objective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Technical Deliverables &amp; Outputs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Hours 00–06 (Setup)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Hardware Mount &amp; Calibration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Mount RPi 4, MPU-6050 &amp; Dashcam on testbed; calibrate 100Hz I2C bus; establish local SQLite queue.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Hours 07–12 (Milestone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Physical Vibration Simulation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Simulate potholes on shaker table; validate Bayesian camera × IMU shock fusion under physical movement.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Hours 13–18 (Milestone 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Spatial Deduplication &amp; Sync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Connect edge units to cloud REST API; stress-test Haversine deduplication across 1,000 simulated passes.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Hours 19–24 (Milestone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Full Integration &amp; MoRTH BOQ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Auto-generate SHA-256 signed work orders; live synchronization with Leaflet.js GIS dashboard.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Hours 25–36 (Milestone 4-5)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Edge Case Hardening &amp; Jury Demo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Test extreme low-light and rain glare; deliver live physical sensor shaking demonstration to judges.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303520"/>
            <a:ext cx="11064240" cy="1051560"/>
          </a:xfrm>
          <a:prstGeom prst="roundRect">
            <a:avLst/>
          </a:prstGeom>
          <a:solidFill>
            <a:srgbClr val="0A2540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TEAM HACKATHON RESPONSIBILITY ASSIGNMENTS: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• Udbhav Yadav: Edge AI &amp; NumPy optimization, jury pitch | Member 2: MoRTH civil BOQ &amp; ASTM PCI validation | Member 3: Hardware GPIO, MPU-6050 &amp; shaker testbed | Member 4: REST API, Haversine clustering &amp; cloud sync | Member 5: Leaflet GIS dashboard &amp; UI | Member 6: SHA-256 HMAC &amp; DPDP 2023 privacy.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Team Competencies, Mentor &amp; Academic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SIH 2026 | BEL SIH26124</a:t>
            </a:r>
          </a:p>
          <a:p>
            <a:pPr algn="r">
              <a:defRPr sz="1100">
                <a:solidFill>
                  <a:srgbClr val="FFFFFF"/>
                </a:solidFill>
                <a:latin typeface="Segoe UI"/>
              </a:defRPr>
            </a:pPr>
            <a:r>
              <a:t>Team: ROAD-SHIELD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  <a:latin typeface="Segoe UI"/>
              </a:defRPr>
            </a:pPr>
            <a:r>
              <a:t>Smart India Hackathon 2026 — Theme: Smart Automation | Slide 10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0352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Team Competencies &amp; Faculty Mentor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0A2540"/>
                </a:solidFill>
                <a:latin typeface="Segoe UI"/>
              </a:rPr>
              <a:t>• Udbhav Yadav (Lead): </a:t>
            </a:r>
            <a:r>
              <a:rPr sz="950" b="0">
                <a:solidFill>
                  <a:srgbClr val="1E293B"/>
                </a:solidFill>
                <a:latin typeface="Segoe UI"/>
              </a:rPr>
              <a:t>Deep Learning, Transformer Architectures, ARM Embedded Optimization, System Integration.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A2540"/>
                </a:solidFill>
                <a:latin typeface="Segoe UI"/>
              </a:rPr>
              <a:t>• Member 2 (Civil): </a:t>
            </a:r>
            <a:r>
              <a:rPr sz="950" b="0">
                <a:solidFill>
                  <a:srgbClr val="1E293B"/>
                </a:solidFill>
                <a:latin typeface="Segoe UI"/>
              </a:rPr>
              <a:t>Pavement Evaluation, ASTM D6433 Standards, MoRTH Specifications, Civil Costing.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A2540"/>
                </a:solidFill>
                <a:latin typeface="Segoe UI"/>
              </a:rPr>
              <a:t>• Member 3 (Embedded): </a:t>
            </a:r>
            <a:r>
              <a:rPr sz="950" b="0">
                <a:solidFill>
                  <a:srgbClr val="1E293B"/>
                </a:solidFill>
                <a:latin typeface="Segoe UI"/>
              </a:rPr>
              <a:t>I2C/SPI Protocols, MPU-6050 Signal Processing, MicroPython/C++ Edge Drivers.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A2540"/>
                </a:solidFill>
                <a:latin typeface="Segoe UI"/>
              </a:rPr>
              <a:t>• Member 4 (Cloud/GIS): </a:t>
            </a:r>
            <a:r>
              <a:rPr sz="950" b="0">
                <a:solidFill>
                  <a:srgbClr val="1E293B"/>
                </a:solidFill>
                <a:latin typeface="Segoe UI"/>
              </a:rPr>
              <a:t>Asynchronous Python, Geospatial Indexing, Haversine Algorithms, Database Sharding.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A2540"/>
                </a:solidFill>
                <a:latin typeface="Segoe UI"/>
              </a:rPr>
              <a:t>• Member 5 (Frontend): </a:t>
            </a:r>
            <a:r>
              <a:rPr sz="950" b="0">
                <a:solidFill>
                  <a:srgbClr val="1E293B"/>
                </a:solidFill>
                <a:latin typeface="Segoe UI"/>
              </a:rPr>
              <a:t>Modern JavaScript, Leaflet.js GIS, Responsive Tailwind CSS, Data Visualization.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A2540"/>
                </a:solidFill>
                <a:latin typeface="Segoe UI"/>
              </a:rPr>
              <a:t>• Member 6 (Security): </a:t>
            </a:r>
            <a:r>
              <a:rPr sz="950" b="0">
                <a:solidFill>
                  <a:srgbClr val="1E293B"/>
                </a:solidFill>
                <a:latin typeface="Segoe UI"/>
              </a:rPr>
              <a:t>Cryptographic Hashing (SHA-256), Digital Signatures, DPDP Act Compliance.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3A8A"/>
                </a:solidFill>
                <a:latin typeface="Segoe UI"/>
              </a:rPr>
              <a:t>• Faculty Mentor: </a:t>
            </a:r>
            <a:r>
              <a:rPr sz="950" b="0">
                <a:solidFill>
                  <a:srgbClr val="1E293B"/>
                </a:solidFill>
                <a:latin typeface="Segoe UI"/>
              </a:rPr>
              <a:t>Dr. / Prof. [Mentor Name], Ph.D. — Guidance on multi-modal sensor fusion models and civil engineering survey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34440"/>
            <a:ext cx="548640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Key Academic &amp; Regulatory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A2540"/>
                </a:solidFill>
                <a:latin typeface="Segoe UI"/>
              </a:rPr>
              <a:t>[1] RDD2022 Benchmark: </a:t>
            </a:r>
            <a:r>
              <a:rPr sz="900" b="0">
                <a:solidFill>
                  <a:srgbClr val="1E293B"/>
                </a:solidFill>
                <a:latin typeface="Segoe UI"/>
              </a:rPr>
              <a:t>Wang et al. (2022). 'Multi-Country Road Damage Detection Challenge.' IEEE CRUW / arXiv:2209.08538.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A2540"/>
                </a:solidFill>
                <a:latin typeface="Segoe UI"/>
              </a:rPr>
              <a:t>[2] Deep Learning for Roads: </a:t>
            </a:r>
            <a:r>
              <a:rPr sz="900" b="0">
                <a:solidFill>
                  <a:srgbClr val="1E293B"/>
                </a:solidFill>
                <a:latin typeface="Segoe UI"/>
              </a:rPr>
              <a:t>Maeda et al. (2018). 'Road Damage Detection Using Deep Neural Networks.' Computer-Aided Civil &amp; Infrastructure Engg, 33(12).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A2540"/>
                </a:solidFill>
                <a:latin typeface="Segoe UI"/>
              </a:rPr>
              <a:t>[3] Pavement PCI Standard: </a:t>
            </a:r>
            <a:r>
              <a:rPr sz="900" b="0">
                <a:solidFill>
                  <a:srgbClr val="1E293B"/>
                </a:solidFill>
                <a:latin typeface="Segoe UI"/>
              </a:rPr>
              <a:t>ASTM D6433-20. 'Standard Practice for Roads and Parking Lots Pavement Condition Index Surveys.' ASTM International.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A2540"/>
                </a:solidFill>
                <a:latin typeface="Segoe UI"/>
              </a:rPr>
              <a:t>[4] Civil Specifications: </a:t>
            </a:r>
            <a:r>
              <a:rPr sz="900" b="0">
                <a:solidFill>
                  <a:srgbClr val="1E293B"/>
                </a:solidFill>
                <a:latin typeface="Segoe UI"/>
              </a:rPr>
              <a:t>MoRTH (2020). 'Specifications for Road and Bridge Works (7th Revision).' Ministry of Road Transport &amp; Highways, Govt. of India.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A2540"/>
                </a:solidFill>
                <a:latin typeface="Segoe UI"/>
              </a:rPr>
              <a:t>[5] Data Privacy: </a:t>
            </a:r>
            <a:r>
              <a:rPr sz="900" b="0">
                <a:solidFill>
                  <a:srgbClr val="1E293B"/>
                </a:solidFill>
                <a:latin typeface="Segoe UI"/>
              </a:rPr>
              <a:t>Digital Personal Data Protection (DPDP) Act 2023. Gazette of India, MeitY.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A2540"/>
                </a:solidFill>
                <a:latin typeface="Segoe UI"/>
              </a:rPr>
              <a:t>[6] CRACK500 Benchmark: </a:t>
            </a:r>
            <a:r>
              <a:rPr sz="900" b="0">
                <a:solidFill>
                  <a:srgbClr val="1E293B"/>
                </a:solidFill>
                <a:latin typeface="Segoe UI"/>
              </a:rPr>
              <a:t>Yang et al. (2019). 'Feature Pyramid Network for Pavement Crack Detection.' IEEE Transactions on ITS.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A2540"/>
                </a:solidFill>
                <a:latin typeface="Segoe UI"/>
              </a:rPr>
              <a:t>[7] Accident Statistics: </a:t>
            </a:r>
            <a:r>
              <a:rPr sz="900" b="0">
                <a:solidFill>
                  <a:srgbClr val="1E293B"/>
                </a:solidFill>
                <a:latin typeface="Segoe UI"/>
              </a:rPr>
              <a:t>MoRTH Annual Report (2023). 'Road Accidents in India 2023.' Table 3.7.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0A2540"/>
                </a:solidFill>
                <a:latin typeface="Segoe UI"/>
              </a:rPr>
              <a:t>[8] Open Source Repository: </a:t>
            </a:r>
            <a:r>
              <a:rPr sz="900" b="0">
                <a:solidFill>
                  <a:srgbClr val="1E293B"/>
                </a:solidFill>
                <a:latin typeface="Segoe UI"/>
              </a:rPr>
              <a:t>github.com/udbhav968-creator/SIH_PROJECT (356 automated tests pass).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